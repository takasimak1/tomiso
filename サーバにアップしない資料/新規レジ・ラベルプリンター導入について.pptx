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285" r:id="rId2"/>
    <p:sldId id="286" r:id="rId3"/>
    <p:sldId id="297" r:id="rId4"/>
    <p:sldId id="293" r:id="rId5"/>
    <p:sldId id="299" r:id="rId6"/>
  </p:sldIdLst>
  <p:sldSz cx="9906000" cy="6858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8" autoAdjust="0"/>
    <p:restoredTop sz="96353" autoAdjust="0"/>
  </p:normalViewPr>
  <p:slideViewPr>
    <p:cSldViewPr snapToGrid="0">
      <p:cViewPr varScale="1">
        <p:scale>
          <a:sx n="127" d="100"/>
          <a:sy n="127" d="100"/>
        </p:scale>
        <p:origin x="1648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4A9B9-93D3-42EF-84E3-BDA1BD86C0F3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AF530-1447-4EF0-99A4-8E1D88D03A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01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0A07B-9B23-4216-AEAE-DE7493B0EEF6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21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142A3-75E9-4481-80C5-745C8DD15D66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2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E3A0-232A-410A-80B9-4354B5D597E5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6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ADAE-1910-4E3A-A4FE-1C8A0B352FC0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34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72CB-8CC2-4ED9-A0BE-5E917C8C5089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07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096C5-57E5-4EB5-9FA7-67D017008B64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237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A447-5C7C-497F-AD17-EF1CE9B40DA4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83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64EE-DEED-4F7E-A843-7323D8CBF569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2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DA72-AC23-45E2-8370-7E442856D513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9765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ABAFD-4C2A-4DDF-8D1C-42BBF771B987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6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CA1-B303-4312-B3D7-F111D970ECBA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74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9D864-8877-45A4-86BB-A4C4917C448A}" type="datetime1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1AE05-C615-4D15-87EF-A57A07014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39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1BDC6-151B-4CEB-B004-48D01E32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28" y="1134927"/>
            <a:ext cx="3811715" cy="839933"/>
          </a:xfrm>
        </p:spPr>
        <p:txBody>
          <a:bodyPr anchor="b">
            <a:normAutofit/>
          </a:bodyPr>
          <a:lstStyle/>
          <a:p>
            <a:r>
              <a:rPr lang="ja-JP" altLang="en-US" sz="2275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次世代レジ・ラベルプリンター（ハード面）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EBAAE-9046-401B-9ED8-A3EE98D12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28" y="2204804"/>
            <a:ext cx="5409923" cy="42007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en-US" sz="1600" b="1" u="sng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寺岡精工製を採用</a:t>
            </a:r>
            <a:endParaRPr lang="en-US" altLang="ja-JP" sz="1600" b="1" u="sng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レジ名称：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Happy scale</a:t>
            </a:r>
          </a:p>
          <a:p>
            <a:pPr marL="0" indent="0">
              <a:buNone/>
            </a:pP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ラベルプリンター名称：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MP3</a:t>
            </a:r>
          </a:p>
          <a:p>
            <a:pPr marL="0" indent="0">
              <a:buNone/>
            </a:pPr>
            <a:r>
              <a:rPr lang="ja-JP" altLang="en-US" sz="1600" b="1" u="sng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操作性、機能性の向上</a:t>
            </a:r>
            <a:endParaRPr lang="en-US" altLang="ja-JP" sz="1600" b="1" u="sng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マスタ受信速度、二次元バーコード、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IoT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サポート</a:t>
            </a:r>
            <a:endParaRPr lang="en-US" altLang="ja-JP" sz="14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600" b="1" u="sng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サイズが小さく</a:t>
            </a:r>
            <a:endParaRPr lang="en-US" altLang="ja-JP" sz="1600" b="1" u="sng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レジ：横幅：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-10mm 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奥行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:-85mm 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高さ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-10mm</a:t>
            </a:r>
          </a:p>
          <a:p>
            <a:pPr marL="0" indent="0">
              <a:buNone/>
            </a:pP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ラベル：横幅：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-5mm 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奥行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:-20mm 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高さ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-10mm</a:t>
            </a:r>
          </a:p>
          <a:p>
            <a:pPr marL="0" indent="0">
              <a:buNone/>
            </a:pPr>
            <a:r>
              <a:rPr lang="ja-JP" altLang="en-US" sz="1600" b="1" u="sng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軽量化</a:t>
            </a:r>
            <a:r>
              <a:rPr lang="ja-JP" altLang="en-US" sz="1600" u="sng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</a:t>
            </a:r>
            <a:endParaRPr lang="en-US" altLang="ja-JP" sz="1600" u="sng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レジ重量：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-4.6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ｋｇ</a:t>
            </a:r>
            <a:endParaRPr lang="en-US" altLang="ja-JP" sz="14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 ラベル重量</a:t>
            </a:r>
            <a:r>
              <a:rPr lang="en-US" altLang="ja-JP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:-0.7</a:t>
            </a:r>
            <a:r>
              <a:rPr lang="ja-JP" altLang="en-US" sz="1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ｋｇ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F8A3434-23E6-441C-B47A-904D76A2C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714" y="1815298"/>
            <a:ext cx="5314765" cy="4448177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D36795A-DC57-42CF-AF35-9175FDC3156A}"/>
              </a:ext>
            </a:extLst>
          </p:cNvPr>
          <p:cNvCxnSpPr/>
          <p:nvPr/>
        </p:nvCxnSpPr>
        <p:spPr>
          <a:xfrm>
            <a:off x="116328" y="2133600"/>
            <a:ext cx="3678363" cy="0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40ACC9E3-ADD1-E353-6D33-BBFF1582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76" y="306661"/>
            <a:ext cx="7212193" cy="71329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02ED880-2AD0-3207-3BB7-AE9ED8F84E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993"/>
          <a:stretch/>
        </p:blipFill>
        <p:spPr>
          <a:xfrm>
            <a:off x="7945016" y="377695"/>
            <a:ext cx="213360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6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AE7D56C6-8EFE-458F-9824-F0CA939E0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62" y="805861"/>
            <a:ext cx="8543925" cy="1077020"/>
          </a:xfrm>
        </p:spPr>
        <p:txBody>
          <a:bodyPr>
            <a:normAutofit/>
          </a:bodyPr>
          <a:lstStyle/>
          <a:p>
            <a:r>
              <a:rPr lang="ja-JP" altLang="en-US" sz="2275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次世代レジ・ラベルプリンター（機能面）</a:t>
            </a:r>
          </a:p>
        </p:txBody>
      </p:sp>
      <p:sp>
        <p:nvSpPr>
          <p:cNvPr id="14" name="コンテンツ プレースホルダー 17">
            <a:extLst>
              <a:ext uri="{FF2B5EF4-FFF2-40B4-BE49-F238E27FC236}">
                <a16:creationId xmlns:a16="http://schemas.microsoft.com/office/drawing/2014/main" id="{1AEF4C5B-C99E-4F52-B732-8528FDE1A1AD}"/>
              </a:ext>
            </a:extLst>
          </p:cNvPr>
          <p:cNvSpPr txBox="1">
            <a:spLocks/>
          </p:cNvSpPr>
          <p:nvPr/>
        </p:nvSpPr>
        <p:spPr>
          <a:xfrm>
            <a:off x="4998358" y="2121884"/>
            <a:ext cx="4152006" cy="382809"/>
          </a:xfrm>
          <a:prstGeom prst="rect">
            <a:avLst/>
          </a:prstGeom>
        </p:spPr>
        <p:txBody>
          <a:bodyPr vert="horz" lIns="74295" tIns="37148" rIns="74295" bIns="37148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25"/>
              </a:spcAft>
              <a:buNone/>
            </a:pPr>
            <a:r>
              <a:rPr lang="ja-JP" altLang="en-US" sz="16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≪</a:t>
            </a:r>
            <a:r>
              <a:rPr lang="ja-JP" altLang="en-US" sz="1600" u="sng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現状から</a:t>
            </a:r>
            <a:r>
              <a:rPr lang="ja-JP" altLang="en-US" sz="1600" b="1" u="sng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追加</a:t>
            </a:r>
            <a:r>
              <a:rPr lang="ja-JP" altLang="en-US" sz="1600" u="sng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する機能</a:t>
            </a:r>
            <a:r>
              <a:rPr lang="ja-JP" altLang="en-US" sz="16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≫</a:t>
            </a:r>
          </a:p>
        </p:txBody>
      </p:sp>
      <p:grpSp>
        <p:nvGrpSpPr>
          <p:cNvPr id="15" name="グループ 12" descr="手順 1 を示す 1 の番号が振られた小さい円">
            <a:extLst>
              <a:ext uri="{FF2B5EF4-FFF2-40B4-BE49-F238E27FC236}">
                <a16:creationId xmlns:a16="http://schemas.microsoft.com/office/drawing/2014/main" id="{D8498ACA-DEF4-4ADF-B811-CBB1EE78C365}"/>
              </a:ext>
            </a:extLst>
          </p:cNvPr>
          <p:cNvGrpSpPr/>
          <p:nvPr/>
        </p:nvGrpSpPr>
        <p:grpSpPr bwMode="blackWhite">
          <a:xfrm>
            <a:off x="5012262" y="2411675"/>
            <a:ext cx="453520" cy="332994"/>
            <a:chOff x="6953426" y="711274"/>
            <a:chExt cx="558179" cy="409838"/>
          </a:xfrm>
        </p:grpSpPr>
        <p:sp>
          <p:nvSpPr>
            <p:cNvPr id="16" name="円/楕円 13" descr="小さい円">
              <a:extLst>
                <a:ext uri="{FF2B5EF4-FFF2-40B4-BE49-F238E27FC236}">
                  <a16:creationId xmlns:a16="http://schemas.microsoft.com/office/drawing/2014/main" id="{04013D7E-9D70-4CB6-9AA4-3CD3A2EA0D74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63" b="1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  <p:sp>
          <p:nvSpPr>
            <p:cNvPr id="18" name="テキスト ボックス 17" descr="番号 1">
              <a:extLst>
                <a:ext uri="{FF2B5EF4-FFF2-40B4-BE49-F238E27FC236}">
                  <a16:creationId xmlns:a16="http://schemas.microsoft.com/office/drawing/2014/main" id="{A44BEB40-1D56-45B3-8B96-9E47ECBCD5C0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9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 sz="1463" b="1" dirty="0">
                  <a:solidFill>
                    <a:schemeClr val="bg1"/>
                  </a:solidFill>
                  <a:latin typeface="BIZ UDP明朝 Medium" panose="02020500000000000000" pitchFamily="18" charset="-128"/>
                  <a:ea typeface="BIZ UDP明朝 Medium" panose="02020500000000000000" pitchFamily="18" charset="-128"/>
                  <a:cs typeface="Meiryo UI" panose="020B0604030504040204" pitchFamily="34" charset="-128"/>
                </a:rPr>
                <a:t>1</a:t>
              </a:r>
            </a:p>
          </p:txBody>
        </p:sp>
      </p:grpSp>
      <p:sp>
        <p:nvSpPr>
          <p:cNvPr id="20" name="コンテンツ プレースホルダー 17">
            <a:extLst>
              <a:ext uri="{FF2B5EF4-FFF2-40B4-BE49-F238E27FC236}">
                <a16:creationId xmlns:a16="http://schemas.microsoft.com/office/drawing/2014/main" id="{7280610B-9936-4C75-878F-090D9EA1070F}"/>
              </a:ext>
            </a:extLst>
          </p:cNvPr>
          <p:cNvSpPr txBox="1">
            <a:spLocks/>
          </p:cNvSpPr>
          <p:nvPr/>
        </p:nvSpPr>
        <p:spPr>
          <a:xfrm>
            <a:off x="5424456" y="2444330"/>
            <a:ext cx="3631355" cy="378956"/>
          </a:xfrm>
          <a:prstGeom prst="rect">
            <a:avLst/>
          </a:prstGeom>
        </p:spPr>
        <p:txBody>
          <a:bodyPr vert="horz" lIns="74295" tIns="37148" rIns="74295" bIns="37148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25"/>
              </a:spcAft>
              <a:buNone/>
            </a:pPr>
            <a:r>
              <a:rPr lang="ja-JP" altLang="en-US" sz="19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アプリとの連動　</a:t>
            </a:r>
            <a:r>
              <a:rPr lang="ja-JP" altLang="en-US" sz="13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～お客様を知り、サービス向上～</a:t>
            </a:r>
          </a:p>
        </p:txBody>
      </p:sp>
      <p:grpSp>
        <p:nvGrpSpPr>
          <p:cNvPr id="21" name="グループ 17" descr="手順 2 を示す 2 の番号が振られた小さい円">
            <a:extLst>
              <a:ext uri="{FF2B5EF4-FFF2-40B4-BE49-F238E27FC236}">
                <a16:creationId xmlns:a16="http://schemas.microsoft.com/office/drawing/2014/main" id="{F4A02198-D09E-4435-A671-CF31E4122233}"/>
              </a:ext>
            </a:extLst>
          </p:cNvPr>
          <p:cNvGrpSpPr/>
          <p:nvPr/>
        </p:nvGrpSpPr>
        <p:grpSpPr bwMode="blackWhite">
          <a:xfrm>
            <a:off x="5012262" y="4075262"/>
            <a:ext cx="453520" cy="332994"/>
            <a:chOff x="6953426" y="711274"/>
            <a:chExt cx="558179" cy="409838"/>
          </a:xfrm>
        </p:grpSpPr>
        <p:sp>
          <p:nvSpPr>
            <p:cNvPr id="22" name="円/楕円 22" descr="小さい円">
              <a:extLst>
                <a:ext uri="{FF2B5EF4-FFF2-40B4-BE49-F238E27FC236}">
                  <a16:creationId xmlns:a16="http://schemas.microsoft.com/office/drawing/2014/main" id="{67F0DCBF-98C9-4B77-861F-A44B00D8ADB3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63" b="1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  <p:sp>
          <p:nvSpPr>
            <p:cNvPr id="23" name="テキスト ボックス 22" descr="番号 2">
              <a:extLst>
                <a:ext uri="{FF2B5EF4-FFF2-40B4-BE49-F238E27FC236}">
                  <a16:creationId xmlns:a16="http://schemas.microsoft.com/office/drawing/2014/main" id="{D9F16205-2CF7-4EFC-BDFF-2FC330F3BB05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9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 sz="1463" b="1" dirty="0">
                  <a:solidFill>
                    <a:schemeClr val="bg1"/>
                  </a:solidFill>
                  <a:latin typeface="BIZ UDP明朝 Medium" panose="02020500000000000000" pitchFamily="18" charset="-128"/>
                  <a:ea typeface="BIZ UDP明朝 Medium" panose="02020500000000000000" pitchFamily="18" charset="-128"/>
                  <a:cs typeface="Meiryo UI" panose="020B0604030504040204" pitchFamily="34" charset="-128"/>
                </a:rPr>
                <a:t>2</a:t>
              </a:r>
            </a:p>
          </p:txBody>
        </p:sp>
      </p:grpSp>
      <p:sp>
        <p:nvSpPr>
          <p:cNvPr id="24" name="コンテンツ プレースホルダー 17">
            <a:extLst>
              <a:ext uri="{FF2B5EF4-FFF2-40B4-BE49-F238E27FC236}">
                <a16:creationId xmlns:a16="http://schemas.microsoft.com/office/drawing/2014/main" id="{11A5277B-4534-4CCC-9E8A-C31B8633947C}"/>
              </a:ext>
            </a:extLst>
          </p:cNvPr>
          <p:cNvSpPr txBox="1">
            <a:spLocks/>
          </p:cNvSpPr>
          <p:nvPr/>
        </p:nvSpPr>
        <p:spPr>
          <a:xfrm>
            <a:off x="5402325" y="4108170"/>
            <a:ext cx="3938704" cy="378956"/>
          </a:xfrm>
          <a:prstGeom prst="rect">
            <a:avLst/>
          </a:prstGeom>
        </p:spPr>
        <p:txBody>
          <a:bodyPr vert="horz" lIns="74295" tIns="37148" rIns="74295" bIns="37148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25"/>
              </a:spcAft>
              <a:buNone/>
            </a:pPr>
            <a:r>
              <a:rPr lang="ja-JP" altLang="en-US" sz="16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レジ締め作業の簡素化　</a:t>
            </a:r>
            <a:r>
              <a:rPr lang="ja-JP" altLang="en-US" sz="11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～店舗の作業負荷軽減～</a:t>
            </a:r>
            <a:endParaRPr lang="ja-JP" altLang="en-US" sz="1400" b="1" u="sng" dirty="0">
              <a:solidFill>
                <a:prstClr val="black">
                  <a:lumMod val="75000"/>
                  <a:lumOff val="25000"/>
                </a:prst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cxnSp>
        <p:nvCxnSpPr>
          <p:cNvPr id="29" name="直線​​コネクタ(S) 19">
            <a:extLst>
              <a:ext uri="{FF2B5EF4-FFF2-40B4-BE49-F238E27FC236}">
                <a16:creationId xmlns:a16="http://schemas.microsoft.com/office/drawing/2014/main" id="{F9EB06E7-36E9-4A13-A121-16680663C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35643" y="2042160"/>
            <a:ext cx="0" cy="4593532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22BADE2-D52F-4DEB-A336-B765721E6AFB}"/>
              </a:ext>
            </a:extLst>
          </p:cNvPr>
          <p:cNvSpPr/>
          <p:nvPr/>
        </p:nvSpPr>
        <p:spPr>
          <a:xfrm>
            <a:off x="-1056" y="2726700"/>
            <a:ext cx="3740692" cy="721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B4863B6-5EA7-4DF0-BE64-D66E6FF5A9FA}"/>
              </a:ext>
            </a:extLst>
          </p:cNvPr>
          <p:cNvSpPr/>
          <p:nvPr/>
        </p:nvSpPr>
        <p:spPr>
          <a:xfrm>
            <a:off x="5362900" y="2655980"/>
            <a:ext cx="4410385" cy="1331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レジ画面にお客様のランクステージを表示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レシートに購入予定付与ポイントを記載</a:t>
            </a:r>
            <a:endParaRPr lang="en-US" altLang="ja-JP" sz="14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当日の</a:t>
            </a:r>
            <a:r>
              <a:rPr lang="en-US" altLang="ja-JP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RF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チケット使用額レポートを出力</a:t>
            </a:r>
            <a:r>
              <a:rPr lang="ja-JP" altLang="en-US" sz="105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　</a:t>
            </a:r>
            <a:r>
              <a:rPr lang="ja-JP" altLang="en-US" sz="100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←　</a:t>
            </a:r>
            <a:r>
              <a:rPr lang="ja-JP" altLang="en-US" sz="1000" b="1">
                <a:solidFill>
                  <a:srgbClr val="7030A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御提案</a:t>
            </a:r>
            <a:endParaRPr lang="en-US" altLang="ja-JP" sz="14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2E3D05C-D731-4063-B067-E3C0ABB3CEAC}"/>
              </a:ext>
            </a:extLst>
          </p:cNvPr>
          <p:cNvSpPr/>
          <p:nvPr/>
        </p:nvSpPr>
        <p:spPr>
          <a:xfrm>
            <a:off x="5367514" y="4319704"/>
            <a:ext cx="3874832" cy="1112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当社販売管理システムとの連動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当社への提出レポート類の電子化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各店毎のサポート機能を搭載</a:t>
            </a:r>
            <a:endParaRPr lang="ja-JP" altLang="en-US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34" name="コンテンツ プレースホルダー 17">
            <a:extLst>
              <a:ext uri="{FF2B5EF4-FFF2-40B4-BE49-F238E27FC236}">
                <a16:creationId xmlns:a16="http://schemas.microsoft.com/office/drawing/2014/main" id="{3DF421C6-27F0-42E2-88BF-F209E150FA21}"/>
              </a:ext>
            </a:extLst>
          </p:cNvPr>
          <p:cNvSpPr txBox="1">
            <a:spLocks/>
          </p:cNvSpPr>
          <p:nvPr/>
        </p:nvSpPr>
        <p:spPr>
          <a:xfrm>
            <a:off x="161003" y="2102833"/>
            <a:ext cx="4407003" cy="382809"/>
          </a:xfrm>
          <a:prstGeom prst="rect">
            <a:avLst/>
          </a:prstGeom>
        </p:spPr>
        <p:txBody>
          <a:bodyPr vert="horz" lIns="74295" tIns="37148" rIns="74295" bIns="37148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25"/>
              </a:spcAft>
              <a:buNone/>
            </a:pPr>
            <a:r>
              <a:rPr lang="ja-JP" altLang="en-US" sz="16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≪</a:t>
            </a:r>
            <a:r>
              <a:rPr lang="ja-JP" altLang="en-US" sz="1600" u="sng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現状から</a:t>
            </a:r>
            <a:r>
              <a:rPr lang="ja-JP" altLang="en-US" sz="1600" b="1" u="sng" dirty="0">
                <a:solidFill>
                  <a:srgbClr val="000099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改善</a:t>
            </a:r>
            <a:r>
              <a:rPr lang="ja-JP" altLang="en-US" sz="1600" u="sng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する機能</a:t>
            </a:r>
            <a:r>
              <a:rPr lang="ja-JP" altLang="en-US" sz="16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≫</a:t>
            </a: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83D6931F-5928-4019-93AF-C4F3B4DF75CB}"/>
              </a:ext>
            </a:extLst>
          </p:cNvPr>
          <p:cNvGrpSpPr/>
          <p:nvPr/>
        </p:nvGrpSpPr>
        <p:grpSpPr>
          <a:xfrm>
            <a:off x="161003" y="2411674"/>
            <a:ext cx="453520" cy="332994"/>
            <a:chOff x="6701428" y="1873118"/>
            <a:chExt cx="558179" cy="409838"/>
          </a:xfrm>
        </p:grpSpPr>
        <p:sp>
          <p:nvSpPr>
            <p:cNvPr id="36" name="円/楕円 13" descr="小さい円">
              <a:extLst>
                <a:ext uri="{FF2B5EF4-FFF2-40B4-BE49-F238E27FC236}">
                  <a16:creationId xmlns:a16="http://schemas.microsoft.com/office/drawing/2014/main" id="{0309B7D4-7140-4584-B3A1-3364C326091C}"/>
                </a:ext>
              </a:extLst>
            </p:cNvPr>
            <p:cNvSpPr/>
            <p:nvPr/>
          </p:nvSpPr>
          <p:spPr bwMode="blackWhite">
            <a:xfrm>
              <a:off x="6782800" y="1873118"/>
              <a:ext cx="409838" cy="409838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63" b="1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  <p:sp>
          <p:nvSpPr>
            <p:cNvPr id="37" name="テキスト ボックス 36" descr="番号 1">
              <a:extLst>
                <a:ext uri="{FF2B5EF4-FFF2-40B4-BE49-F238E27FC236}">
                  <a16:creationId xmlns:a16="http://schemas.microsoft.com/office/drawing/2014/main" id="{DEFBED75-C722-46EA-9CAF-3A3AA203613F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701428" y="1887170"/>
              <a:ext cx="558179" cy="39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 sz="1463" b="1" dirty="0">
                  <a:solidFill>
                    <a:schemeClr val="bg1"/>
                  </a:solidFill>
                  <a:latin typeface="BIZ UDP明朝 Medium" panose="02020500000000000000" pitchFamily="18" charset="-128"/>
                  <a:ea typeface="BIZ UDP明朝 Medium" panose="02020500000000000000" pitchFamily="18" charset="-128"/>
                  <a:cs typeface="Meiryo UI" panose="020B0604030504040204" pitchFamily="34" charset="-128"/>
                </a:rPr>
                <a:t>1</a:t>
              </a:r>
            </a:p>
          </p:txBody>
        </p:sp>
      </p:grpSp>
      <p:sp>
        <p:nvSpPr>
          <p:cNvPr id="38" name="コンテンツ プレースホルダー 17">
            <a:extLst>
              <a:ext uri="{FF2B5EF4-FFF2-40B4-BE49-F238E27FC236}">
                <a16:creationId xmlns:a16="http://schemas.microsoft.com/office/drawing/2014/main" id="{E1615134-359E-4AAC-8850-107962ECCF35}"/>
              </a:ext>
            </a:extLst>
          </p:cNvPr>
          <p:cNvSpPr txBox="1">
            <a:spLocks/>
          </p:cNvSpPr>
          <p:nvPr/>
        </p:nvSpPr>
        <p:spPr>
          <a:xfrm>
            <a:off x="587102" y="2425279"/>
            <a:ext cx="4119977" cy="378956"/>
          </a:xfrm>
          <a:prstGeom prst="rect">
            <a:avLst/>
          </a:prstGeom>
        </p:spPr>
        <p:txBody>
          <a:bodyPr vert="horz" lIns="74295" tIns="37148" rIns="74295" bIns="37148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25"/>
              </a:spcAft>
              <a:buNone/>
            </a:pPr>
            <a:r>
              <a:rPr lang="ja-JP" altLang="en-US" sz="16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レジの操作　</a:t>
            </a:r>
            <a:r>
              <a:rPr lang="ja-JP" altLang="en-US" sz="11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～ミスなくスムーズな登録によるサービス向上～</a:t>
            </a:r>
            <a:endParaRPr lang="ja-JP" altLang="en-US" sz="1400" b="1" u="sng" dirty="0">
              <a:solidFill>
                <a:prstClr val="black">
                  <a:lumMod val="75000"/>
                  <a:lumOff val="25000"/>
                </a:prst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39" name="コンテンツ プレースホルダー 17">
            <a:extLst>
              <a:ext uri="{FF2B5EF4-FFF2-40B4-BE49-F238E27FC236}">
                <a16:creationId xmlns:a16="http://schemas.microsoft.com/office/drawing/2014/main" id="{E9D54A56-B145-404C-9C73-8D32DACACD04}"/>
              </a:ext>
            </a:extLst>
          </p:cNvPr>
          <p:cNvSpPr txBox="1">
            <a:spLocks/>
          </p:cNvSpPr>
          <p:nvPr/>
        </p:nvSpPr>
        <p:spPr>
          <a:xfrm>
            <a:off x="564971" y="4089120"/>
            <a:ext cx="4165750" cy="378956"/>
          </a:xfrm>
          <a:prstGeom prst="rect">
            <a:avLst/>
          </a:prstGeom>
        </p:spPr>
        <p:txBody>
          <a:bodyPr vert="horz" lIns="74295" tIns="37148" rIns="74295" bIns="37148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25"/>
              </a:spcAft>
              <a:buNone/>
            </a:pPr>
            <a:r>
              <a:rPr lang="ja-JP" altLang="en-US" sz="16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事前プリセット　</a:t>
            </a:r>
            <a:r>
              <a:rPr lang="ja-JP" altLang="en-US" sz="11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～事前準備の作業効率化～</a:t>
            </a:r>
            <a:endParaRPr lang="ja-JP" altLang="en-US" sz="1400" b="1" u="sng" dirty="0">
              <a:solidFill>
                <a:prstClr val="black">
                  <a:lumMod val="75000"/>
                  <a:lumOff val="25000"/>
                </a:prst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40" name="コンテンツ プレースホルダー 17">
            <a:extLst>
              <a:ext uri="{FF2B5EF4-FFF2-40B4-BE49-F238E27FC236}">
                <a16:creationId xmlns:a16="http://schemas.microsoft.com/office/drawing/2014/main" id="{FA474F5B-008B-4AC5-97F7-E0649E5BC505}"/>
              </a:ext>
            </a:extLst>
          </p:cNvPr>
          <p:cNvSpPr txBox="1">
            <a:spLocks/>
          </p:cNvSpPr>
          <p:nvPr/>
        </p:nvSpPr>
        <p:spPr>
          <a:xfrm>
            <a:off x="564971" y="5632277"/>
            <a:ext cx="3557318" cy="266347"/>
          </a:xfrm>
          <a:prstGeom prst="rect">
            <a:avLst/>
          </a:prstGeom>
        </p:spPr>
        <p:txBody>
          <a:bodyPr vert="horz" lIns="74295" tIns="37148" rIns="74295" bIns="37148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25"/>
              </a:spcAft>
              <a:buNone/>
            </a:pPr>
            <a:r>
              <a:rPr lang="ja-JP" altLang="en-US" sz="64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実績連携</a:t>
            </a:r>
            <a:r>
              <a:rPr lang="ja-JP" altLang="en-US" sz="48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　</a:t>
            </a:r>
            <a:r>
              <a:rPr lang="ja-JP" altLang="en-US" sz="4400" b="1" u="sng" dirty="0">
                <a:solidFill>
                  <a:prstClr val="black">
                    <a:lumMod val="75000"/>
                    <a:lumOff val="25000"/>
                  </a:prstClr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～実績連携強化によるサービス改善～</a:t>
            </a:r>
            <a:endParaRPr lang="ja-JP" altLang="en-US" sz="4800" b="1" u="sng" dirty="0">
              <a:solidFill>
                <a:prstClr val="black">
                  <a:lumMod val="75000"/>
                  <a:lumOff val="25000"/>
                </a:prst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D2DF74B-1158-469D-AFF4-424B70F1AE1C}"/>
              </a:ext>
            </a:extLst>
          </p:cNvPr>
          <p:cNvSpPr/>
          <p:nvPr/>
        </p:nvSpPr>
        <p:spPr>
          <a:xfrm>
            <a:off x="519027" y="2540251"/>
            <a:ext cx="4263276" cy="1191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接客動線に合わせた操作画面</a:t>
            </a: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（会員読み取り・カトラリー登録）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別添名称、具材目安量を画面で確認</a:t>
            </a: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（接客クレームの防止）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会計画面でも計量が可能</a:t>
            </a: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（計量待機時間を無くす）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610BC16-A635-42AF-B6C1-C9FA9D028009}"/>
              </a:ext>
            </a:extLst>
          </p:cNvPr>
          <p:cNvSpPr/>
          <p:nvPr/>
        </p:nvSpPr>
        <p:spPr>
          <a:xfrm>
            <a:off x="524121" y="4323947"/>
            <a:ext cx="3620301" cy="951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レジ設定の全てをクラウドで対応</a:t>
            </a:r>
            <a:endParaRPr lang="en-US" altLang="ja-JP" sz="14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商品プリセットの自動化　</a:t>
            </a: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←　</a:t>
            </a:r>
            <a:r>
              <a:rPr lang="en-US" altLang="ja-JP" sz="1000" b="1" dirty="0">
                <a:solidFill>
                  <a:srgbClr val="7030A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2025</a:t>
            </a:r>
            <a:r>
              <a:rPr lang="ja-JP" altLang="en-US" sz="1000" b="1" dirty="0">
                <a:solidFill>
                  <a:srgbClr val="7030A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年実装予定</a:t>
            </a:r>
            <a:endParaRPr lang="en-US" altLang="ja-JP" sz="1000" b="1" dirty="0">
              <a:solidFill>
                <a:srgbClr val="7030A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endParaRPr lang="ja-JP" altLang="en-US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49172A3-0F42-4073-A75D-F1199D650C01}"/>
              </a:ext>
            </a:extLst>
          </p:cNvPr>
          <p:cNvSpPr/>
          <p:nvPr/>
        </p:nvSpPr>
        <p:spPr>
          <a:xfrm>
            <a:off x="519026" y="5836916"/>
            <a:ext cx="4038461" cy="633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・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当日の売上分析を強化</a:t>
            </a: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（ブランド別）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→当日の売上状況をブランド別で見える化し、店舗</a:t>
            </a:r>
            <a:r>
              <a:rPr lang="en-US" altLang="ja-JP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PDS</a:t>
            </a:r>
            <a:r>
              <a:rPr lang="ja-JP" altLang="en-US" sz="1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強化を行う</a:t>
            </a:r>
            <a:endParaRPr lang="en-US" altLang="ja-JP" sz="10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057EC080-60D5-4045-A8EE-D5DE8D330FB3}"/>
              </a:ext>
            </a:extLst>
          </p:cNvPr>
          <p:cNvGrpSpPr/>
          <p:nvPr/>
        </p:nvGrpSpPr>
        <p:grpSpPr>
          <a:xfrm>
            <a:off x="161955" y="4072040"/>
            <a:ext cx="453520" cy="332994"/>
            <a:chOff x="6701428" y="1873118"/>
            <a:chExt cx="558179" cy="409838"/>
          </a:xfrm>
        </p:grpSpPr>
        <p:sp>
          <p:nvSpPr>
            <p:cNvPr id="45" name="円/楕円 13" descr="小さい円">
              <a:extLst>
                <a:ext uri="{FF2B5EF4-FFF2-40B4-BE49-F238E27FC236}">
                  <a16:creationId xmlns:a16="http://schemas.microsoft.com/office/drawing/2014/main" id="{2BEA1BDF-43E7-4B21-8160-873B5650ECEF}"/>
                </a:ext>
              </a:extLst>
            </p:cNvPr>
            <p:cNvSpPr/>
            <p:nvPr/>
          </p:nvSpPr>
          <p:spPr bwMode="blackWhite">
            <a:xfrm>
              <a:off x="6782800" y="1873118"/>
              <a:ext cx="409838" cy="409838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63" b="1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  <p:sp>
          <p:nvSpPr>
            <p:cNvPr id="46" name="テキスト ボックス 45" descr="番号 1">
              <a:extLst>
                <a:ext uri="{FF2B5EF4-FFF2-40B4-BE49-F238E27FC236}">
                  <a16:creationId xmlns:a16="http://schemas.microsoft.com/office/drawing/2014/main" id="{71DB0160-1EC3-4CA9-8509-92E3CDF6C19B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701428" y="1887170"/>
              <a:ext cx="558179" cy="39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ja-JP" altLang="en-US" sz="1463" b="1" dirty="0">
                  <a:solidFill>
                    <a:schemeClr val="bg1"/>
                  </a:solidFill>
                  <a:latin typeface="BIZ UDP明朝 Medium" panose="02020500000000000000" pitchFamily="18" charset="-128"/>
                  <a:ea typeface="BIZ UDP明朝 Medium" panose="02020500000000000000" pitchFamily="18" charset="-128"/>
                  <a:cs typeface="Meiryo UI" panose="020B0604030504040204" pitchFamily="34" charset="-128"/>
                </a:rPr>
                <a:t>２</a:t>
              </a:r>
              <a:endParaRPr lang="en-US" altLang="ja-JP" sz="1463" b="1" dirty="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23B6D32E-15FB-4E63-82C0-C42DD9FBCA1E}"/>
              </a:ext>
            </a:extLst>
          </p:cNvPr>
          <p:cNvGrpSpPr/>
          <p:nvPr/>
        </p:nvGrpSpPr>
        <p:grpSpPr>
          <a:xfrm>
            <a:off x="161003" y="5621226"/>
            <a:ext cx="453520" cy="332994"/>
            <a:chOff x="6701428" y="1873118"/>
            <a:chExt cx="558179" cy="409838"/>
          </a:xfrm>
        </p:grpSpPr>
        <p:sp>
          <p:nvSpPr>
            <p:cNvPr id="48" name="円/楕円 13" descr="小さい円">
              <a:extLst>
                <a:ext uri="{FF2B5EF4-FFF2-40B4-BE49-F238E27FC236}">
                  <a16:creationId xmlns:a16="http://schemas.microsoft.com/office/drawing/2014/main" id="{9729D94C-0481-422C-8252-9E6F3AD01BE7}"/>
                </a:ext>
              </a:extLst>
            </p:cNvPr>
            <p:cNvSpPr/>
            <p:nvPr/>
          </p:nvSpPr>
          <p:spPr bwMode="blackWhite">
            <a:xfrm>
              <a:off x="6782800" y="1873118"/>
              <a:ext cx="409838" cy="409838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sz="1463" b="1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  <p:sp>
          <p:nvSpPr>
            <p:cNvPr id="49" name="テキスト ボックス 48" descr="番号 1">
              <a:extLst>
                <a:ext uri="{FF2B5EF4-FFF2-40B4-BE49-F238E27FC236}">
                  <a16:creationId xmlns:a16="http://schemas.microsoft.com/office/drawing/2014/main" id="{CCB2274D-C8EF-4F2B-94FC-862700AF0F1B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701428" y="1887170"/>
              <a:ext cx="558179" cy="3907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ja-JP" altLang="en-US" sz="1463" b="1" dirty="0">
                  <a:solidFill>
                    <a:schemeClr val="bg1"/>
                  </a:solidFill>
                  <a:latin typeface="BIZ UDP明朝 Medium" panose="02020500000000000000" pitchFamily="18" charset="-128"/>
                  <a:ea typeface="BIZ UDP明朝 Medium" panose="02020500000000000000" pitchFamily="18" charset="-128"/>
                  <a:cs typeface="Meiryo UI" panose="020B0604030504040204" pitchFamily="34" charset="-128"/>
                </a:rPr>
                <a:t>３</a:t>
              </a:r>
              <a:endParaRPr lang="en-US" altLang="ja-JP" sz="1463" b="1" dirty="0">
                <a:solidFill>
                  <a:schemeClr val="bg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endParaRPr>
            </a:p>
          </p:txBody>
        </p:sp>
      </p:grp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821AA09F-D890-41DC-B438-8392DC5AFEF5}"/>
              </a:ext>
            </a:extLst>
          </p:cNvPr>
          <p:cNvCxnSpPr>
            <a:cxnSpLocks/>
          </p:cNvCxnSpPr>
          <p:nvPr/>
        </p:nvCxnSpPr>
        <p:spPr>
          <a:xfrm>
            <a:off x="327171" y="1790700"/>
            <a:ext cx="9013858" cy="0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341D24DB-C1C8-B2B3-8977-B5D9A3A6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993"/>
          <a:stretch/>
        </p:blipFill>
        <p:spPr>
          <a:xfrm>
            <a:off x="7732111" y="373571"/>
            <a:ext cx="213360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86B6CE03-D685-47A9-BD06-D02BDA189868}"/>
              </a:ext>
            </a:extLst>
          </p:cNvPr>
          <p:cNvSpPr txBox="1">
            <a:spLocks/>
          </p:cNvSpPr>
          <p:nvPr/>
        </p:nvSpPr>
        <p:spPr>
          <a:xfrm>
            <a:off x="261175" y="370804"/>
            <a:ext cx="5920410" cy="972269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ja-JP" altLang="en-US" sz="2275" u="sng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御提案内容</a:t>
            </a:r>
            <a:endParaRPr lang="en-US" altLang="ja-JP" sz="2275" u="sng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algn="just"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1_</a:t>
            </a:r>
            <a:r>
              <a:rPr lang="ja-JP" altLang="en-US" sz="20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○○</a:t>
            </a:r>
            <a:r>
              <a:rPr lang="ja-JP" altLang="en-US" sz="20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チケットご利用額レポートのご提出</a:t>
            </a:r>
            <a:endParaRPr lang="en-US" altLang="ja-JP" sz="2275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A2BEF7-384B-4A16-AFF8-BCCFE56F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653" y="2707906"/>
            <a:ext cx="1746874" cy="40375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CC3982-6A72-46DC-87E4-AA2C007D45D5}"/>
              </a:ext>
            </a:extLst>
          </p:cNvPr>
          <p:cNvSpPr/>
          <p:nvPr/>
        </p:nvSpPr>
        <p:spPr>
          <a:xfrm>
            <a:off x="2126653" y="4967312"/>
            <a:ext cx="1746874" cy="231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080D95B-B8FA-4DF4-AF1E-68AF2B154451}"/>
              </a:ext>
            </a:extLst>
          </p:cNvPr>
          <p:cNvSpPr/>
          <p:nvPr/>
        </p:nvSpPr>
        <p:spPr>
          <a:xfrm>
            <a:off x="2126653" y="2315578"/>
            <a:ext cx="1746874" cy="3923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before</a:t>
            </a:r>
            <a:endPara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C0E6A2C-C908-424A-AD0C-F8D4790FCAE1}"/>
              </a:ext>
            </a:extLst>
          </p:cNvPr>
          <p:cNvCxnSpPr>
            <a:cxnSpLocks/>
          </p:cNvCxnSpPr>
          <p:nvPr/>
        </p:nvCxnSpPr>
        <p:spPr>
          <a:xfrm>
            <a:off x="327171" y="1295750"/>
            <a:ext cx="9013858" cy="0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58CB3F0-3446-42C9-BF0B-2DCE80B1FD4A}"/>
              </a:ext>
            </a:extLst>
          </p:cNvPr>
          <p:cNvSpPr/>
          <p:nvPr/>
        </p:nvSpPr>
        <p:spPr>
          <a:xfrm>
            <a:off x="2126653" y="2737210"/>
            <a:ext cx="1746874" cy="379558"/>
          </a:xfrm>
          <a:prstGeom prst="round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050" b="1" dirty="0">
                <a:solidFill>
                  <a:sysClr val="windowText" lastClr="00000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精算レポート</a:t>
            </a: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6E8D57A-880E-4574-93E5-EBFF450D5676}"/>
              </a:ext>
            </a:extLst>
          </p:cNvPr>
          <p:cNvGrpSpPr/>
          <p:nvPr/>
        </p:nvGrpSpPr>
        <p:grpSpPr>
          <a:xfrm>
            <a:off x="5521189" y="2315578"/>
            <a:ext cx="1746874" cy="4098464"/>
            <a:chOff x="5521189" y="2315578"/>
            <a:chExt cx="1746874" cy="4098464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B0AD7E2A-1E99-4FC4-869C-0207ED55C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1189" y="2640794"/>
              <a:ext cx="1746874" cy="3773248"/>
            </a:xfrm>
            <a:prstGeom prst="rect">
              <a:avLst/>
            </a:prstGeom>
            <a:ln>
              <a:solidFill>
                <a:sysClr val="windowText" lastClr="000000"/>
              </a:solidFill>
            </a:ln>
          </p:spPr>
        </p:pic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AFE91E9E-756C-4DE3-A239-EE46E6EFD58C}"/>
                </a:ext>
              </a:extLst>
            </p:cNvPr>
            <p:cNvSpPr/>
            <p:nvPr/>
          </p:nvSpPr>
          <p:spPr>
            <a:xfrm>
              <a:off x="5521189" y="2315578"/>
              <a:ext cx="1746874" cy="392328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BIZ UDP明朝 Medium" panose="02020500000000000000" pitchFamily="18" charset="-128"/>
                  <a:ea typeface="BIZ UDP明朝 Medium" panose="02020500000000000000" pitchFamily="18" charset="-128"/>
                </a:rPr>
                <a:t>after</a:t>
              </a:r>
              <a:endParaRPr kumimoji="1" lang="ja-JP" altLang="en-US" dirty="0">
                <a:latin typeface="BIZ UDP明朝 Medium" panose="02020500000000000000" pitchFamily="18" charset="-128"/>
                <a:ea typeface="BIZ UDP明朝 Medium" panose="020205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682647D0-7E19-4D61-99BB-54DB878B87EA}"/>
                </a:ext>
              </a:extLst>
            </p:cNvPr>
            <p:cNvSpPr/>
            <p:nvPr/>
          </p:nvSpPr>
          <p:spPr>
            <a:xfrm>
              <a:off x="5521189" y="2724440"/>
              <a:ext cx="1746874" cy="3923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ysClr val="windowText" lastClr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altLang="en-US" sz="1050" b="1" dirty="0">
                  <a:solidFill>
                    <a:sysClr val="windowText" lastClr="000000"/>
                  </a:solidFill>
                  <a:latin typeface="游明朝" panose="02020400000000000000" pitchFamily="18" charset="-128"/>
                  <a:ea typeface="游明朝" panose="02020400000000000000" pitchFamily="18" charset="-128"/>
                </a:rPr>
                <a:t>会計キー別レポート</a:t>
              </a: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AF49256D-B5F0-45A7-9B0F-6205210027D4}"/>
                </a:ext>
              </a:extLst>
            </p:cNvPr>
            <p:cNvSpPr/>
            <p:nvPr/>
          </p:nvSpPr>
          <p:spPr>
            <a:xfrm>
              <a:off x="5521189" y="5115389"/>
              <a:ext cx="1746874" cy="10253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E823DAE-9ED3-4A6B-BF02-AC438D843236}"/>
              </a:ext>
            </a:extLst>
          </p:cNvPr>
          <p:cNvSpPr/>
          <p:nvPr/>
        </p:nvSpPr>
        <p:spPr>
          <a:xfrm>
            <a:off x="261175" y="1414046"/>
            <a:ext cx="9013858" cy="74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600" b="1" u="sng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現在の提出レポートを</a:t>
            </a:r>
            <a:r>
              <a:rPr lang="en-US" altLang="ja-JP" sz="1600" b="1" u="sng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RF</a:t>
            </a:r>
            <a:r>
              <a:rPr lang="ja-JP" altLang="en-US" sz="1600" b="1" u="sng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チケット毎に分かるレポートに変更</a:t>
            </a:r>
            <a:endParaRPr lang="en-US" altLang="ja-JP" sz="1600" b="1" u="sng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→現状の精算レポートから専用レポート</a:t>
            </a:r>
            <a:r>
              <a:rPr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（会計キー別レポート）</a:t>
            </a:r>
            <a:r>
              <a:rPr lang="ja-JP" altLang="en-US" sz="14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に切り替え</a:t>
            </a:r>
            <a:endParaRPr lang="en-US" altLang="ja-JP" sz="14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58ADB7-9F6B-E13E-394E-BF3E4F5EED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993"/>
          <a:stretch/>
        </p:blipFill>
        <p:spPr>
          <a:xfrm>
            <a:off x="7732111" y="373571"/>
            <a:ext cx="213360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0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タイトル 1">
            <a:extLst>
              <a:ext uri="{FF2B5EF4-FFF2-40B4-BE49-F238E27FC236}">
                <a16:creationId xmlns:a16="http://schemas.microsoft.com/office/drawing/2014/main" id="{75EEDE6F-E27F-4550-B541-BD5F0750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71" y="939604"/>
            <a:ext cx="8543925" cy="1077020"/>
          </a:xfrm>
        </p:spPr>
        <p:txBody>
          <a:bodyPr>
            <a:normAutofit/>
          </a:bodyPr>
          <a:lstStyle/>
          <a:p>
            <a:r>
              <a:rPr lang="ja-JP" altLang="en-US" sz="2275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レジ・ラベルプリンターに関するお問い合わせ窓口</a:t>
            </a:r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2F3E640D-1ED0-465D-A819-8AF971B65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1" y="1945552"/>
            <a:ext cx="8420099" cy="25626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195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株式会社　富惣</a:t>
            </a:r>
            <a:endParaRPr lang="en-US" altLang="ja-JP" sz="195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ja-JP" altLang="en-US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○○部　○○グループ　担当○○○</a:t>
            </a:r>
            <a:endParaRPr lang="en-US" altLang="ja-JP" sz="195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en-US" altLang="ja-JP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TEL</a:t>
            </a:r>
            <a:r>
              <a:rPr lang="ja-JP" altLang="en-US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：○○</a:t>
            </a:r>
            <a:r>
              <a:rPr lang="en-US" altLang="ja-JP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-</a:t>
            </a:r>
            <a:r>
              <a:rPr lang="ja-JP" altLang="en-US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○○</a:t>
            </a:r>
            <a:r>
              <a:rPr lang="en-US" altLang="ja-JP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‐</a:t>
            </a:r>
            <a:r>
              <a:rPr lang="ja-JP" altLang="en-US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○○</a:t>
            </a:r>
            <a:endParaRPr lang="en-US" altLang="ja-JP" sz="195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0" indent="0">
              <a:buNone/>
            </a:pPr>
            <a:r>
              <a:rPr lang="en-US" altLang="ja-JP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E-mail: </a:t>
            </a:r>
            <a:r>
              <a:rPr lang="ja-JP" altLang="en-US" sz="195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○○○○○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C2C0BBB-EFF0-42AE-ACF2-729EF0DB0B8F}"/>
              </a:ext>
            </a:extLst>
          </p:cNvPr>
          <p:cNvCxnSpPr>
            <a:cxnSpLocks/>
          </p:cNvCxnSpPr>
          <p:nvPr/>
        </p:nvCxnSpPr>
        <p:spPr>
          <a:xfrm>
            <a:off x="327171" y="1790700"/>
            <a:ext cx="9013858" cy="0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AC27A010-9235-E010-09A6-F7E99CD1C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993"/>
          <a:stretch/>
        </p:blipFill>
        <p:spPr>
          <a:xfrm>
            <a:off x="7732111" y="373571"/>
            <a:ext cx="213360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4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タイトル 1">
            <a:extLst>
              <a:ext uri="{FF2B5EF4-FFF2-40B4-BE49-F238E27FC236}">
                <a16:creationId xmlns:a16="http://schemas.microsoft.com/office/drawing/2014/main" id="{75EEDE6F-E27F-4550-B541-BD5F0750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71" y="939604"/>
            <a:ext cx="8543925" cy="1077020"/>
          </a:xfrm>
        </p:spPr>
        <p:txBody>
          <a:bodyPr>
            <a:normAutofit/>
          </a:bodyPr>
          <a:lstStyle/>
          <a:p>
            <a:r>
              <a:rPr lang="ja-JP" altLang="en-US" sz="2275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導入時期・店舗について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C2C0BBB-EFF0-42AE-ACF2-729EF0DB0B8F}"/>
              </a:ext>
            </a:extLst>
          </p:cNvPr>
          <p:cNvCxnSpPr>
            <a:cxnSpLocks/>
          </p:cNvCxnSpPr>
          <p:nvPr/>
        </p:nvCxnSpPr>
        <p:spPr>
          <a:xfrm>
            <a:off x="327171" y="1790700"/>
            <a:ext cx="9013858" cy="0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コンテンツ プレースホルダー 17">
            <a:extLst>
              <a:ext uri="{FF2B5EF4-FFF2-40B4-BE49-F238E27FC236}">
                <a16:creationId xmlns:a16="http://schemas.microsoft.com/office/drawing/2014/main" id="{C2D1480A-C72C-4571-9F10-5A25525A509E}"/>
              </a:ext>
            </a:extLst>
          </p:cNvPr>
          <p:cNvSpPr txBox="1">
            <a:spLocks/>
          </p:cNvSpPr>
          <p:nvPr/>
        </p:nvSpPr>
        <p:spPr>
          <a:xfrm>
            <a:off x="567932" y="2439765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[2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7AA9267-1B3E-4E53-BCCD-FB23EA0B0B17}"/>
              </a:ext>
            </a:extLst>
          </p:cNvPr>
          <p:cNvSpPr/>
          <p:nvPr/>
        </p:nvSpPr>
        <p:spPr>
          <a:xfrm>
            <a:off x="456448" y="2732003"/>
            <a:ext cx="2251918" cy="1654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TW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髙島屋日本橋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導入日：</a:t>
            </a:r>
            <a:r>
              <a:rPr kumimoji="1" lang="en-US" altLang="ja-JP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2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月</a:t>
            </a:r>
            <a:r>
              <a:rPr kumimoji="1" lang="en-US" altLang="ja-JP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25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日（火）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※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全館休業の際に作業を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実施いたします</a:t>
            </a: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稼働日：</a:t>
            </a:r>
            <a:r>
              <a:rPr kumimoji="1" lang="en-US" altLang="ja-JP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2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月</a:t>
            </a:r>
            <a:r>
              <a:rPr kumimoji="1" lang="en-US" altLang="ja-JP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26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日（水）</a:t>
            </a:r>
          </a:p>
          <a:p>
            <a:pPr>
              <a:lnSpc>
                <a:spcPct val="150000"/>
              </a:lnSpc>
            </a:pPr>
            <a:endParaRPr kumimoji="1" lang="en-US" altLang="zh-TW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13" name="コンテンツ プレースホルダー 17">
            <a:extLst>
              <a:ext uri="{FF2B5EF4-FFF2-40B4-BE49-F238E27FC236}">
                <a16:creationId xmlns:a16="http://schemas.microsoft.com/office/drawing/2014/main" id="{11A6C99E-ED59-488D-8D48-F564ECD99322}"/>
              </a:ext>
            </a:extLst>
          </p:cNvPr>
          <p:cNvSpPr txBox="1">
            <a:spLocks/>
          </p:cNvSpPr>
          <p:nvPr/>
        </p:nvSpPr>
        <p:spPr>
          <a:xfrm>
            <a:off x="2872934" y="2439765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[4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0EB58AE-F473-44F9-86E3-19FC0CD243F4}"/>
              </a:ext>
            </a:extLst>
          </p:cNvPr>
          <p:cNvSpPr/>
          <p:nvPr/>
        </p:nvSpPr>
        <p:spPr>
          <a:xfrm>
            <a:off x="2840888" y="2732004"/>
            <a:ext cx="1758245" cy="623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TW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大阪店</a:t>
            </a:r>
            <a:endParaRPr kumimoji="1" lang="en-US" altLang="zh-TW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17" name="コンテンツ プレースホルダー 17">
            <a:extLst>
              <a:ext uri="{FF2B5EF4-FFF2-40B4-BE49-F238E27FC236}">
                <a16:creationId xmlns:a16="http://schemas.microsoft.com/office/drawing/2014/main" id="{2663828D-492C-4C11-BEE0-59B11D76B03E}"/>
              </a:ext>
            </a:extLst>
          </p:cNvPr>
          <p:cNvSpPr txBox="1">
            <a:spLocks/>
          </p:cNvSpPr>
          <p:nvPr/>
        </p:nvSpPr>
        <p:spPr>
          <a:xfrm>
            <a:off x="5178008" y="2438053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[5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69691A7-48D4-4D99-9398-7C1A266DA0F8}"/>
              </a:ext>
            </a:extLst>
          </p:cNvPr>
          <p:cNvSpPr/>
          <p:nvPr/>
        </p:nvSpPr>
        <p:spPr>
          <a:xfrm>
            <a:off x="5145961" y="2730292"/>
            <a:ext cx="2655799" cy="1755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TW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横浜店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髙島屋柏店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05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タカシマヤフードメゾンおおたかの森店</a:t>
            </a:r>
            <a:endParaRPr kumimoji="1" lang="en-US" altLang="ja-JP" sz="105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髙島屋洛西店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髙島屋京都店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19" name="コンテンツ プレースホルダー 17">
            <a:extLst>
              <a:ext uri="{FF2B5EF4-FFF2-40B4-BE49-F238E27FC236}">
                <a16:creationId xmlns:a16="http://schemas.microsoft.com/office/drawing/2014/main" id="{B47F2F9A-3FAD-41E5-9DF9-EF077ABA1062}"/>
              </a:ext>
            </a:extLst>
          </p:cNvPr>
          <p:cNvSpPr txBox="1">
            <a:spLocks/>
          </p:cNvSpPr>
          <p:nvPr/>
        </p:nvSpPr>
        <p:spPr>
          <a:xfrm>
            <a:off x="8011187" y="2438053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[6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F8D053A-5A20-4EE3-A154-F8CD5F9292E4}"/>
              </a:ext>
            </a:extLst>
          </p:cNvPr>
          <p:cNvSpPr/>
          <p:nvPr/>
        </p:nvSpPr>
        <p:spPr>
          <a:xfrm>
            <a:off x="7979141" y="2730292"/>
            <a:ext cx="2017767" cy="21356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TW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髙島屋玉川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店</a:t>
            </a:r>
            <a:endParaRPr kumimoji="1" lang="en-US" altLang="zh-TW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髙島屋大宮店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髙島屋新宿店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髙島屋高崎店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22" name="コンテンツ プレースホルダー 17">
            <a:extLst>
              <a:ext uri="{FF2B5EF4-FFF2-40B4-BE49-F238E27FC236}">
                <a16:creationId xmlns:a16="http://schemas.microsoft.com/office/drawing/2014/main" id="{E6ADDF37-EDC5-4F89-9957-B428963C45F4}"/>
              </a:ext>
            </a:extLst>
          </p:cNvPr>
          <p:cNvSpPr txBox="1">
            <a:spLocks/>
          </p:cNvSpPr>
          <p:nvPr/>
        </p:nvSpPr>
        <p:spPr>
          <a:xfrm>
            <a:off x="456448" y="1862308"/>
            <a:ext cx="2555200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2025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年・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2026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年</a:t>
            </a:r>
          </a:p>
        </p:txBody>
      </p:sp>
      <p:sp>
        <p:nvSpPr>
          <p:cNvPr id="23" name="コンテンツ プレースホルダー 17">
            <a:extLst>
              <a:ext uri="{FF2B5EF4-FFF2-40B4-BE49-F238E27FC236}">
                <a16:creationId xmlns:a16="http://schemas.microsoft.com/office/drawing/2014/main" id="{485418D5-1C4D-48FB-95E9-BB3074C395D6}"/>
              </a:ext>
            </a:extLst>
          </p:cNvPr>
          <p:cNvSpPr txBox="1">
            <a:spLocks/>
          </p:cNvSpPr>
          <p:nvPr/>
        </p:nvSpPr>
        <p:spPr>
          <a:xfrm>
            <a:off x="562062" y="4963945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[8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BE55624-AA3B-4060-A83A-2D16B64B9E70}"/>
              </a:ext>
            </a:extLst>
          </p:cNvPr>
          <p:cNvSpPr/>
          <p:nvPr/>
        </p:nvSpPr>
        <p:spPr>
          <a:xfrm>
            <a:off x="562062" y="5256183"/>
            <a:ext cx="2146304" cy="1355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05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ジェイアール名古屋タカシマヤ　フードメゾン岡崎店</a:t>
            </a:r>
            <a:endParaRPr kumimoji="1" lang="en-US" altLang="zh-TW" sz="105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27" name="コンテンツ プレースホルダー 17">
            <a:extLst>
              <a:ext uri="{FF2B5EF4-FFF2-40B4-BE49-F238E27FC236}">
                <a16:creationId xmlns:a16="http://schemas.microsoft.com/office/drawing/2014/main" id="{4EBDC979-578D-4F52-82B3-8A3B29F04923}"/>
              </a:ext>
            </a:extLst>
          </p:cNvPr>
          <p:cNvSpPr txBox="1">
            <a:spLocks/>
          </p:cNvSpPr>
          <p:nvPr/>
        </p:nvSpPr>
        <p:spPr>
          <a:xfrm>
            <a:off x="2872934" y="4963944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[9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D1C7DCD-837C-4D7D-A72F-680908405017}"/>
              </a:ext>
            </a:extLst>
          </p:cNvPr>
          <p:cNvSpPr/>
          <p:nvPr/>
        </p:nvSpPr>
        <p:spPr>
          <a:xfrm>
            <a:off x="2840888" y="5256183"/>
            <a:ext cx="1758245" cy="623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ジェイアール名古屋タカシマヤ店</a:t>
            </a:r>
            <a:endParaRPr kumimoji="1" lang="en-US" altLang="zh-TW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29" name="コンテンツ プレースホルダー 17">
            <a:extLst>
              <a:ext uri="{FF2B5EF4-FFF2-40B4-BE49-F238E27FC236}">
                <a16:creationId xmlns:a16="http://schemas.microsoft.com/office/drawing/2014/main" id="{1FDAC232-FE71-40BC-9550-7EB20DA743DF}"/>
              </a:ext>
            </a:extLst>
          </p:cNvPr>
          <p:cNvSpPr txBox="1">
            <a:spLocks/>
          </p:cNvSpPr>
          <p:nvPr/>
        </p:nvSpPr>
        <p:spPr>
          <a:xfrm>
            <a:off x="5178008" y="4960520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[10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532A979-F311-4B97-80B6-DB522E9794C7}"/>
              </a:ext>
            </a:extLst>
          </p:cNvPr>
          <p:cNvSpPr/>
          <p:nvPr/>
        </p:nvSpPr>
        <p:spPr>
          <a:xfrm>
            <a:off x="5145962" y="5252759"/>
            <a:ext cx="1758245" cy="623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TW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髙島屋岡山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いよてつ髙島屋店</a:t>
            </a:r>
            <a:endParaRPr kumimoji="1" lang="en-US" altLang="zh-TW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2" name="コンテンツ プレースホルダー 17">
            <a:extLst>
              <a:ext uri="{FF2B5EF4-FFF2-40B4-BE49-F238E27FC236}">
                <a16:creationId xmlns:a16="http://schemas.microsoft.com/office/drawing/2014/main" id="{A25585B2-A907-5A98-0453-D1BFFB1B75BB}"/>
              </a:ext>
            </a:extLst>
          </p:cNvPr>
          <p:cNvSpPr txBox="1">
            <a:spLocks/>
          </p:cNvSpPr>
          <p:nvPr/>
        </p:nvSpPr>
        <p:spPr>
          <a:xfrm>
            <a:off x="7918626" y="4917631"/>
            <a:ext cx="1230085" cy="34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[1</a:t>
            </a:r>
            <a:r>
              <a:rPr lang="ja-JP" altLang="en-US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月</a:t>
            </a:r>
            <a:r>
              <a:rPr lang="en-US" altLang="ja-JP" sz="1800" dirty="0">
                <a:latin typeface="BIZ UDP明朝 Medium" panose="02020500000000000000" pitchFamily="18" charset="-128"/>
                <a:ea typeface="BIZ UDP明朝 Medium" panose="02020500000000000000" pitchFamily="18" charset="-128"/>
                <a:cs typeface="Meiryo UI" panose="020B0604030504040204" pitchFamily="34" charset="-128"/>
              </a:rPr>
              <a:t>]</a:t>
            </a:r>
            <a:endParaRPr lang="ja-JP" altLang="en-US" sz="18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Meiryo UI" panose="020B0604030504040204" pitchFamily="34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BEB403E-27D1-9177-D268-228E93387CA6}"/>
              </a:ext>
            </a:extLst>
          </p:cNvPr>
          <p:cNvSpPr/>
          <p:nvPr/>
        </p:nvSpPr>
        <p:spPr>
          <a:xfrm>
            <a:off x="7886580" y="5209870"/>
            <a:ext cx="1758245" cy="623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TW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髙島屋</a:t>
            </a:r>
            <a:r>
              <a:rPr kumimoji="1" lang="ja-JP" altLang="en-US" sz="1200" dirty="0">
                <a:solidFill>
                  <a:schemeClr val="tx1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泉北店</a:t>
            </a:r>
            <a:endParaRPr kumimoji="1" lang="en-US" altLang="ja-JP" sz="1200" dirty="0">
              <a:solidFill>
                <a:schemeClr val="tx1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190F33F-93D9-350E-6E8F-C5809E3B04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993"/>
          <a:stretch/>
        </p:blipFill>
        <p:spPr>
          <a:xfrm>
            <a:off x="7732111" y="373571"/>
            <a:ext cx="213360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2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1576</TotalTime>
  <Words>520</Words>
  <Application>Microsoft Macintosh PowerPoint</Application>
  <PresentationFormat>A4 210 x 297 mm</PresentationFormat>
  <Paragraphs>82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3" baseType="lpstr">
      <vt:lpstr>BIZ UDP明朝 Medium</vt:lpstr>
      <vt:lpstr>游ゴシック</vt:lpstr>
      <vt:lpstr>游明朝</vt:lpstr>
      <vt:lpstr>Arial</vt:lpstr>
      <vt:lpstr>Calibri</vt:lpstr>
      <vt:lpstr>Calibri Light</vt:lpstr>
      <vt:lpstr>Wingdings</vt:lpstr>
      <vt:lpstr>Office テーマ</vt:lpstr>
      <vt:lpstr>次世代レジ・ラベルプリンター（ハード面）</vt:lpstr>
      <vt:lpstr>次世代レジ・ラベルプリンター（機能面）</vt:lpstr>
      <vt:lpstr>PowerPoint プレゼンテーション</vt:lpstr>
      <vt:lpstr>レジ・ラベルプリンターに関するお問い合わせ窓口</vt:lpstr>
      <vt:lpstr>導入時期・店舗について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次世代レジ・ラベルプリンターへの入れ替えについて</dc:title>
  <dc:creator>中務聖</dc:creator>
  <cp:lastModifiedBy>けいいち たかしま</cp:lastModifiedBy>
  <cp:revision>85</cp:revision>
  <cp:lastPrinted>2024-07-01T06:53:54Z</cp:lastPrinted>
  <dcterms:created xsi:type="dcterms:W3CDTF">2024-06-18T00:35:14Z</dcterms:created>
  <dcterms:modified xsi:type="dcterms:W3CDTF">2026-06-04T03:18:33Z</dcterms:modified>
</cp:coreProperties>
</file>